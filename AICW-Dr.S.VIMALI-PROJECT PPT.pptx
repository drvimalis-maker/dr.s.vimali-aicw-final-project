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notesSlides/notesSlide3.xml" ContentType="application/vnd.openxmlformats-officedocument.presentationml.notesSlide+xml"/>
  <Override PartName="/ppt/tags/tag8.xml" ContentType="application/vnd.openxmlformats-officedocument.presentationml.tags+xml"/>
  <Override PartName="/ppt/notesSlides/notesSlide4.xml" ContentType="application/vnd.openxmlformats-officedocument.presentationml.notesSlide+xml"/>
  <Override PartName="/ppt/tags/tag9.xml" ContentType="application/vnd.openxmlformats-officedocument.presentationml.tags+xml"/>
  <Override PartName="/ppt/notesSlides/notesSlide5.xml" ContentType="application/vnd.openxmlformats-officedocument.presentationml.notesSlide+xml"/>
  <Override PartName="/ppt/tags/tag10.xml" ContentType="application/vnd.openxmlformats-officedocument.presentationml.tags+xml"/>
  <Override PartName="/ppt/notesSlides/notesSlide6.xml" ContentType="application/vnd.openxmlformats-officedocument.presentationml.notesSlide+xml"/>
  <Override PartName="/ppt/tags/tag11.xml" ContentType="application/vnd.openxmlformats-officedocument.presentationml.tags+xml"/>
  <Override PartName="/ppt/notesSlides/notesSlide7.xml" ContentType="application/vnd.openxmlformats-officedocument.presentationml.notesSlide+xml"/>
  <Override PartName="/ppt/tags/tag12.xml" ContentType="application/vnd.openxmlformats-officedocument.presentationml.tags+xml"/>
  <Override PartName="/ppt/notesSlides/notesSlide8.xml" ContentType="application/vnd.openxmlformats-officedocument.presentationml.notesSlide+xml"/>
  <Override PartName="/ppt/tags/tag13.xml" ContentType="application/vnd.openxmlformats-officedocument.presentationml.tags+xml"/>
  <Override PartName="/ppt/notesSlides/notesSlide9.xml" ContentType="application/vnd.openxmlformats-officedocument.presentationml.notesSlide+xml"/>
  <Override PartName="/ppt/tags/tag14.xml" ContentType="application/vnd.openxmlformats-officedocument.presentationml.tags+xml"/>
  <Override PartName="/ppt/notesSlides/notesSlide10.xml" ContentType="application/vnd.openxmlformats-officedocument.presentationml.notesSlide+xml"/>
  <Override PartName="/ppt/tags/tag15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2" userDrawn="1">
          <p15:clr>
            <a:srgbClr val="A4A3A4"/>
          </p15:clr>
        </p15:guide>
        <p15:guide id="2" orient="horz" pos="852" userDrawn="1">
          <p15:clr>
            <a:srgbClr val="A4A3A4"/>
          </p15:clr>
        </p15:guide>
        <p15:guide id="3" pos="1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ED"/>
    <a:srgbClr val="CEE3FA"/>
    <a:srgbClr val="15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>
        <p:guide orient="horz" pos="612"/>
        <p:guide orient="horz" pos="852"/>
        <p:guide pos="1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06544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B537A-B4DE-D1CE-3512-BCBDE4AC7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C2033-F357-E6BE-5BF1-877BC1AD1B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67B0F-4F1D-ECFE-050E-B551ABF85E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9889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2652038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8">
            <a:extLst>
              <a:ext uri="{FF2B5EF4-FFF2-40B4-BE49-F238E27FC236}">
                <a16:creationId xmlns:a16="http://schemas.microsoft.com/office/drawing/2014/main" id="{A68FA2BF-9B6A-948D-43A3-04C207F5B33C}"/>
              </a:ext>
            </a:extLst>
          </p:cNvPr>
          <p:cNvGrpSpPr/>
          <p:nvPr userDrawn="1"/>
        </p:nvGrpSpPr>
        <p:grpSpPr>
          <a:xfrm flipH="1">
            <a:off x="0" y="5036127"/>
            <a:ext cx="9144000" cy="107373"/>
            <a:chOff x="0" y="0"/>
            <a:chExt cx="4402382" cy="66464"/>
          </a:xfrm>
        </p:grpSpPr>
        <p:sp>
          <p:nvSpPr>
            <p:cNvPr id="3" name="Freeform 9">
              <a:extLst>
                <a:ext uri="{FF2B5EF4-FFF2-40B4-BE49-F238E27FC236}">
                  <a16:creationId xmlns:a16="http://schemas.microsoft.com/office/drawing/2014/main" id="{8B83B97F-BA22-827B-E1BD-8DD9E1D3E0F6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TextBox 10">
              <a:extLst>
                <a:ext uri="{FF2B5EF4-FFF2-40B4-BE49-F238E27FC236}">
                  <a16:creationId xmlns:a16="http://schemas.microsoft.com/office/drawing/2014/main" id="{FC94FAC8-E161-FF7D-84BF-C498EADA502D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8">
            <a:extLst>
              <a:ext uri="{FF2B5EF4-FFF2-40B4-BE49-F238E27FC236}">
                <a16:creationId xmlns:a16="http://schemas.microsoft.com/office/drawing/2014/main" id="{1988876B-43B4-642F-AB10-8B137A34386D}"/>
              </a:ext>
            </a:extLst>
          </p:cNvPr>
          <p:cNvGrpSpPr/>
          <p:nvPr userDrawn="1"/>
        </p:nvGrpSpPr>
        <p:grpSpPr>
          <a:xfrm>
            <a:off x="0" y="0"/>
            <a:ext cx="9144000" cy="424206"/>
            <a:chOff x="0" y="0"/>
            <a:chExt cx="4402382" cy="66464"/>
          </a:xfrm>
        </p:grpSpPr>
        <p:sp>
          <p:nvSpPr>
            <p:cNvPr id="6" name="Freeform 9">
              <a:extLst>
                <a:ext uri="{FF2B5EF4-FFF2-40B4-BE49-F238E27FC236}">
                  <a16:creationId xmlns:a16="http://schemas.microsoft.com/office/drawing/2014/main" id="{613EFC18-F90F-C121-3F09-53AB8141D658}"/>
                </a:ext>
              </a:extLst>
            </p:cNvPr>
            <p:cNvSpPr/>
            <p:nvPr/>
          </p:nvSpPr>
          <p:spPr>
            <a:xfrm>
              <a:off x="0" y="0"/>
              <a:ext cx="4402382" cy="66464"/>
            </a:xfrm>
            <a:custGeom>
              <a:avLst/>
              <a:gdLst/>
              <a:ahLst/>
              <a:cxnLst/>
              <a:rect l="l" t="t" r="r" b="b"/>
              <a:pathLst>
                <a:path w="4402382" h="66464">
                  <a:moveTo>
                    <a:pt x="0" y="0"/>
                  </a:moveTo>
                  <a:lnTo>
                    <a:pt x="4402382" y="0"/>
                  </a:lnTo>
                  <a:lnTo>
                    <a:pt x="44023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10">
              <a:extLst>
                <a:ext uri="{FF2B5EF4-FFF2-40B4-BE49-F238E27FC236}">
                  <a16:creationId xmlns:a16="http://schemas.microsoft.com/office/drawing/2014/main" id="{D81422F7-8BE4-EC53-5307-9812E24315C1}"/>
                </a:ext>
              </a:extLst>
            </p:cNvPr>
            <p:cNvSpPr txBox="1"/>
            <p:nvPr/>
          </p:nvSpPr>
          <p:spPr>
            <a:xfrm>
              <a:off x="0" y="-38100"/>
              <a:ext cx="4402382" cy="1045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8" name="Picture 7" descr="A black and white logo&#10;&#10;AI-generated content may be incorrect.">
            <a:extLst>
              <a:ext uri="{FF2B5EF4-FFF2-40B4-BE49-F238E27FC236}">
                <a16:creationId xmlns:a16="http://schemas.microsoft.com/office/drawing/2014/main" id="{31AC86FC-94F1-13A5-98FD-3215960D2A0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820696" y="55166"/>
            <a:ext cx="965086" cy="313873"/>
          </a:xfrm>
          <a:prstGeom prst="rect">
            <a:avLst/>
          </a:prstGeom>
        </p:spPr>
      </p:pic>
    </p:spTree>
    <p:custDataLst>
      <p:tags r:id="rId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219A4-F5CF-3B84-A831-006143830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5BBAA9FE-14A6-3635-BDE0-21E75B60255D}"/>
              </a:ext>
            </a:extLst>
          </p:cNvPr>
          <p:cNvSpPr/>
          <p:nvPr/>
        </p:nvSpPr>
        <p:spPr>
          <a:xfrm>
            <a:off x="364882" y="652908"/>
            <a:ext cx="3603333" cy="485021"/>
          </a:xfrm>
          <a:prstGeom prst="roundRect">
            <a:avLst/>
          </a:prstGeom>
          <a:solidFill>
            <a:schemeClr val="bg1"/>
          </a:solidFill>
          <a:ln>
            <a:solidFill>
              <a:srgbClr val="1D63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C713F69-E6DD-B345-33D3-499B008F7A17}"/>
              </a:ext>
            </a:extLst>
          </p:cNvPr>
          <p:cNvGrpSpPr/>
          <p:nvPr/>
        </p:nvGrpSpPr>
        <p:grpSpPr>
          <a:xfrm>
            <a:off x="0" y="0"/>
            <a:ext cx="4153368" cy="126178"/>
            <a:chOff x="0" y="0"/>
            <a:chExt cx="2187782" cy="6646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16F12EA0-AE27-85D3-96E6-BED52A471BC9}"/>
                </a:ext>
              </a:extLst>
            </p:cNvPr>
            <p:cNvSpPr/>
            <p:nvPr/>
          </p:nvSpPr>
          <p:spPr>
            <a:xfrm>
              <a:off x="0" y="0"/>
              <a:ext cx="2187782" cy="66464"/>
            </a:xfrm>
            <a:custGeom>
              <a:avLst/>
              <a:gdLst/>
              <a:ahLst/>
              <a:cxnLst/>
              <a:rect l="l" t="t" r="r" b="b"/>
              <a:pathLst>
                <a:path w="2187782" h="66464">
                  <a:moveTo>
                    <a:pt x="0" y="0"/>
                  </a:moveTo>
                  <a:lnTo>
                    <a:pt x="2187782" y="0"/>
                  </a:lnTo>
                  <a:lnTo>
                    <a:pt x="2187782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EDED881-7208-D373-6128-A08573FEEA11}"/>
                </a:ext>
              </a:extLst>
            </p:cNvPr>
            <p:cNvSpPr txBox="1"/>
            <p:nvPr/>
          </p:nvSpPr>
          <p:spPr>
            <a:xfrm>
              <a:off x="0" y="-38100"/>
              <a:ext cx="2187782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1C7EC6-7D4C-F061-CDE0-6A50914ECB9E}"/>
              </a:ext>
            </a:extLst>
          </p:cNvPr>
          <p:cNvGrpSpPr/>
          <p:nvPr/>
        </p:nvGrpSpPr>
        <p:grpSpPr>
          <a:xfrm>
            <a:off x="0" y="5017322"/>
            <a:ext cx="7571294" cy="126178"/>
            <a:chOff x="0" y="0"/>
            <a:chExt cx="3988171" cy="66464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B4AD79D7-46FD-6B0C-7DE4-FF78018F4A88}"/>
                </a:ext>
              </a:extLst>
            </p:cNvPr>
            <p:cNvSpPr/>
            <p:nvPr/>
          </p:nvSpPr>
          <p:spPr>
            <a:xfrm>
              <a:off x="0" y="0"/>
              <a:ext cx="3988171" cy="66464"/>
            </a:xfrm>
            <a:custGeom>
              <a:avLst/>
              <a:gdLst/>
              <a:ahLst/>
              <a:cxnLst/>
              <a:rect l="l" t="t" r="r" b="b"/>
              <a:pathLst>
                <a:path w="3988171" h="66464">
                  <a:moveTo>
                    <a:pt x="0" y="0"/>
                  </a:moveTo>
                  <a:lnTo>
                    <a:pt x="3988171" y="0"/>
                  </a:lnTo>
                  <a:lnTo>
                    <a:pt x="3988171" y="66464"/>
                  </a:lnTo>
                  <a:lnTo>
                    <a:pt x="0" y="66464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396E051-FCE8-96D0-093A-9DAA0B6CA32C}"/>
                </a:ext>
              </a:extLst>
            </p:cNvPr>
            <p:cNvSpPr txBox="1"/>
            <p:nvPr/>
          </p:nvSpPr>
          <p:spPr>
            <a:xfrm>
              <a:off x="0" y="-38100"/>
              <a:ext cx="3988171" cy="104564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614E0FB1-7343-AA0B-7107-6EF9941BD391}"/>
              </a:ext>
            </a:extLst>
          </p:cNvPr>
          <p:cNvGrpSpPr/>
          <p:nvPr/>
        </p:nvGrpSpPr>
        <p:grpSpPr>
          <a:xfrm rot="2700000">
            <a:off x="3661769" y="-528997"/>
            <a:ext cx="4602320" cy="2123257"/>
            <a:chOff x="0" y="0"/>
            <a:chExt cx="2424267" cy="1118423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8AFFC971-D518-DC63-82CA-066EEEE8BD9D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EF1F892B-32CB-D20F-CD5E-29D9DD282E0B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03312A-41E4-0C98-DB5C-2FD31C761F00}"/>
              </a:ext>
            </a:extLst>
          </p:cNvPr>
          <p:cNvGrpSpPr/>
          <p:nvPr/>
        </p:nvGrpSpPr>
        <p:grpSpPr>
          <a:xfrm rot="2700000">
            <a:off x="5632358" y="303921"/>
            <a:ext cx="3724082" cy="1064394"/>
            <a:chOff x="0" y="0"/>
            <a:chExt cx="1961656" cy="560668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A8440D19-D63B-AF33-3EAE-F2B37D5CF256}"/>
                </a:ext>
              </a:extLst>
            </p:cNvPr>
            <p:cNvSpPr/>
            <p:nvPr/>
          </p:nvSpPr>
          <p:spPr>
            <a:xfrm>
              <a:off x="0" y="0"/>
              <a:ext cx="1961656" cy="560668"/>
            </a:xfrm>
            <a:custGeom>
              <a:avLst/>
              <a:gdLst/>
              <a:ahLst/>
              <a:cxnLst/>
              <a:rect l="l" t="t" r="r" b="b"/>
              <a:pathLst>
                <a:path w="1961656" h="560668">
                  <a:moveTo>
                    <a:pt x="0" y="0"/>
                  </a:moveTo>
                  <a:lnTo>
                    <a:pt x="1961656" y="0"/>
                  </a:lnTo>
                  <a:lnTo>
                    <a:pt x="1961656" y="560668"/>
                  </a:lnTo>
                  <a:lnTo>
                    <a:pt x="0" y="560668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70297523-D0C9-81EB-FA45-802E3E7D096A}"/>
                </a:ext>
              </a:extLst>
            </p:cNvPr>
            <p:cNvSpPr txBox="1"/>
            <p:nvPr/>
          </p:nvSpPr>
          <p:spPr>
            <a:xfrm>
              <a:off x="0" y="-38100"/>
              <a:ext cx="1961656" cy="598768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AF039C7-166F-DC3C-FD40-F2CACE3926F2}"/>
              </a:ext>
            </a:extLst>
          </p:cNvPr>
          <p:cNvGrpSpPr/>
          <p:nvPr/>
        </p:nvGrpSpPr>
        <p:grpSpPr>
          <a:xfrm rot="2700000">
            <a:off x="7528217" y="-892816"/>
            <a:ext cx="2873959" cy="1967021"/>
            <a:chOff x="0" y="0"/>
            <a:chExt cx="1513855" cy="1036126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166C2FB9-D184-461A-308A-1F6AFD5F7BBF}"/>
                </a:ext>
              </a:extLst>
            </p:cNvPr>
            <p:cNvSpPr/>
            <p:nvPr/>
          </p:nvSpPr>
          <p:spPr>
            <a:xfrm>
              <a:off x="0" y="0"/>
              <a:ext cx="1513855" cy="1036126"/>
            </a:xfrm>
            <a:custGeom>
              <a:avLst/>
              <a:gdLst/>
              <a:ahLst/>
              <a:cxnLst/>
              <a:rect l="l" t="t" r="r" b="b"/>
              <a:pathLst>
                <a:path w="1513855" h="1036126">
                  <a:moveTo>
                    <a:pt x="0" y="0"/>
                  </a:moveTo>
                  <a:lnTo>
                    <a:pt x="1513855" y="0"/>
                  </a:lnTo>
                  <a:lnTo>
                    <a:pt x="1513855" y="1036126"/>
                  </a:lnTo>
                  <a:lnTo>
                    <a:pt x="0" y="1036126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D78B5C6B-C409-CCBB-2B06-FBD31CAC99E4}"/>
                </a:ext>
              </a:extLst>
            </p:cNvPr>
            <p:cNvSpPr txBox="1"/>
            <p:nvPr/>
          </p:nvSpPr>
          <p:spPr>
            <a:xfrm>
              <a:off x="0" y="-38100"/>
              <a:ext cx="1513855" cy="1074226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BB6CD3B7-9C29-31B7-074F-1C8E56CB1626}"/>
              </a:ext>
            </a:extLst>
          </p:cNvPr>
          <p:cNvGrpSpPr/>
          <p:nvPr/>
        </p:nvGrpSpPr>
        <p:grpSpPr>
          <a:xfrm rot="2700000">
            <a:off x="6756840" y="4003698"/>
            <a:ext cx="4602320" cy="2123257"/>
            <a:chOff x="0" y="0"/>
            <a:chExt cx="2424267" cy="111842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059C69CD-FBFA-E4B4-AA86-445D5367D190}"/>
                </a:ext>
              </a:extLst>
            </p:cNvPr>
            <p:cNvSpPr/>
            <p:nvPr/>
          </p:nvSpPr>
          <p:spPr>
            <a:xfrm>
              <a:off x="0" y="0"/>
              <a:ext cx="2424267" cy="1118423"/>
            </a:xfrm>
            <a:custGeom>
              <a:avLst/>
              <a:gdLst/>
              <a:ahLst/>
              <a:cxnLst/>
              <a:rect l="l" t="t" r="r" b="b"/>
              <a:pathLst>
                <a:path w="2424267" h="1118423">
                  <a:moveTo>
                    <a:pt x="0" y="0"/>
                  </a:moveTo>
                  <a:lnTo>
                    <a:pt x="2424267" y="0"/>
                  </a:lnTo>
                  <a:lnTo>
                    <a:pt x="2424267" y="1118423"/>
                  </a:lnTo>
                  <a:lnTo>
                    <a:pt x="0" y="1118423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3FFFD043-6DDC-803C-1EE7-E745D2CD7192}"/>
                </a:ext>
              </a:extLst>
            </p:cNvPr>
            <p:cNvSpPr txBox="1"/>
            <p:nvPr/>
          </p:nvSpPr>
          <p:spPr>
            <a:xfrm>
              <a:off x="0" y="-38100"/>
              <a:ext cx="2424267" cy="1156523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40B8BCE7-F5DB-C74D-120E-15FE119805F6}"/>
              </a:ext>
            </a:extLst>
          </p:cNvPr>
          <p:cNvGrpSpPr/>
          <p:nvPr/>
        </p:nvGrpSpPr>
        <p:grpSpPr>
          <a:xfrm rot="2700000">
            <a:off x="7842195" y="3672519"/>
            <a:ext cx="2166949" cy="1126189"/>
            <a:chOff x="0" y="0"/>
            <a:chExt cx="1141438" cy="593219"/>
          </a:xfrm>
        </p:grpSpPr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CCA289A-B33A-364F-D970-B4B0741374DB}"/>
                </a:ext>
              </a:extLst>
            </p:cNvPr>
            <p:cNvSpPr/>
            <p:nvPr/>
          </p:nvSpPr>
          <p:spPr>
            <a:xfrm>
              <a:off x="0" y="0"/>
              <a:ext cx="1141438" cy="593219"/>
            </a:xfrm>
            <a:custGeom>
              <a:avLst/>
              <a:gdLst/>
              <a:ahLst/>
              <a:cxnLst/>
              <a:rect l="l" t="t" r="r" b="b"/>
              <a:pathLst>
                <a:path w="1141438" h="593219">
                  <a:moveTo>
                    <a:pt x="0" y="0"/>
                  </a:moveTo>
                  <a:lnTo>
                    <a:pt x="1141438" y="0"/>
                  </a:lnTo>
                  <a:lnTo>
                    <a:pt x="1141438" y="593219"/>
                  </a:lnTo>
                  <a:lnTo>
                    <a:pt x="0" y="593219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2" name="TextBox 22">
              <a:extLst>
                <a:ext uri="{FF2B5EF4-FFF2-40B4-BE49-F238E27FC236}">
                  <a16:creationId xmlns:a16="http://schemas.microsoft.com/office/drawing/2014/main" id="{6D1B43F8-87A5-2EDD-F149-BE82A2984EB5}"/>
                </a:ext>
              </a:extLst>
            </p:cNvPr>
            <p:cNvSpPr txBox="1"/>
            <p:nvPr/>
          </p:nvSpPr>
          <p:spPr>
            <a:xfrm>
              <a:off x="0" y="-38100"/>
              <a:ext cx="1141438" cy="631319"/>
            </a:xfrm>
            <a:prstGeom prst="rect">
              <a:avLst/>
            </a:prstGeom>
          </p:spPr>
          <p:txBody>
            <a:bodyPr lIns="25400" tIns="25400" rIns="25400" bIns="25400" rtlCol="0" anchor="ctr"/>
            <a:lstStyle/>
            <a:p>
              <a:pPr algn="ctr">
                <a:lnSpc>
                  <a:spcPts val="1330"/>
                </a:lnSpc>
              </a:pPr>
              <a:endParaRPr sz="700"/>
            </a:p>
          </p:txBody>
        </p:sp>
      </p:grpSp>
      <p:grpSp>
        <p:nvGrpSpPr>
          <p:cNvPr id="23" name="Group 23">
            <a:extLst>
              <a:ext uri="{FF2B5EF4-FFF2-40B4-BE49-F238E27FC236}">
                <a16:creationId xmlns:a16="http://schemas.microsoft.com/office/drawing/2014/main" id="{2ABF0622-9241-CD75-6B4F-4578A248FF9B}"/>
              </a:ext>
            </a:extLst>
          </p:cNvPr>
          <p:cNvGrpSpPr/>
          <p:nvPr/>
        </p:nvGrpSpPr>
        <p:grpSpPr>
          <a:xfrm>
            <a:off x="5720497" y="768985"/>
            <a:ext cx="3475712" cy="3475712"/>
            <a:chOff x="0" y="0"/>
            <a:chExt cx="812800" cy="812800"/>
          </a:xfrm>
        </p:grpSpPr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0A81DF20-399E-AF89-89B0-FC2CA2FD0162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74675" y="0"/>
                  </a:moveTo>
                  <a:lnTo>
                    <a:pt x="812800" y="238125"/>
                  </a:lnTo>
                  <a:lnTo>
                    <a:pt x="812800" y="574675"/>
                  </a:lnTo>
                  <a:lnTo>
                    <a:pt x="574675" y="812800"/>
                  </a:lnTo>
                  <a:lnTo>
                    <a:pt x="238125" y="812800"/>
                  </a:lnTo>
                  <a:lnTo>
                    <a:pt x="0" y="574675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574675" y="0"/>
                  </a:lnTo>
                  <a:close/>
                </a:path>
              </a:pathLst>
            </a:custGeom>
            <a:gradFill rotWithShape="1">
              <a:gsLst>
                <a:gs pos="0">
                  <a:srgbClr val="042882">
                    <a:alpha val="100000"/>
                  </a:srgbClr>
                </a:gs>
                <a:gs pos="100000">
                  <a:srgbClr val="2A83D0">
                    <a:alpha val="100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 sz="700"/>
            </a:p>
          </p:txBody>
        </p:sp>
        <p:sp>
          <p:nvSpPr>
            <p:cNvPr id="25" name="TextBox 25">
              <a:extLst>
                <a:ext uri="{FF2B5EF4-FFF2-40B4-BE49-F238E27FC236}">
                  <a16:creationId xmlns:a16="http://schemas.microsoft.com/office/drawing/2014/main" id="{40C2189F-9BF3-791F-6AA1-3475C52DFABC}"/>
                </a:ext>
              </a:extLst>
            </p:cNvPr>
            <p:cNvSpPr txBox="1"/>
            <p:nvPr/>
          </p:nvSpPr>
          <p:spPr>
            <a:xfrm>
              <a:off x="63500" y="25400"/>
              <a:ext cx="685800" cy="723900"/>
            </a:xfrm>
            <a:prstGeom prst="rect">
              <a:avLst/>
            </a:prstGeom>
          </p:spPr>
          <p:txBody>
            <a:bodyPr lIns="29445" tIns="29445" rIns="29445" bIns="29445" rtlCol="0" anchor="ctr"/>
            <a:lstStyle/>
            <a:p>
              <a:pPr algn="ctr">
                <a:lnSpc>
                  <a:spcPts val="1330"/>
                </a:lnSpc>
                <a:spcBef>
                  <a:spcPct val="0"/>
                </a:spcBef>
              </a:pPr>
              <a:endParaRPr sz="700"/>
            </a:p>
          </p:txBody>
        </p:sp>
      </p:grpSp>
      <p:sp>
        <p:nvSpPr>
          <p:cNvPr id="34" name="Freeform 34">
            <a:extLst>
              <a:ext uri="{FF2B5EF4-FFF2-40B4-BE49-F238E27FC236}">
                <a16:creationId xmlns:a16="http://schemas.microsoft.com/office/drawing/2014/main" id="{79637531-A44E-C462-F403-761C10B95F61}"/>
              </a:ext>
            </a:extLst>
          </p:cNvPr>
          <p:cNvSpPr/>
          <p:nvPr/>
        </p:nvSpPr>
        <p:spPr>
          <a:xfrm>
            <a:off x="4814816" y="492813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7"/>
                </a:lnTo>
                <a:lnTo>
                  <a:pt x="0" y="3192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5" name="Freeform 35">
            <a:extLst>
              <a:ext uri="{FF2B5EF4-FFF2-40B4-BE49-F238E27FC236}">
                <a16:creationId xmlns:a16="http://schemas.microsoft.com/office/drawing/2014/main" id="{DCD7CC8C-164D-C41A-6252-42C99A05871B}"/>
              </a:ext>
            </a:extLst>
          </p:cNvPr>
          <p:cNvSpPr/>
          <p:nvPr/>
        </p:nvSpPr>
        <p:spPr>
          <a:xfrm>
            <a:off x="8435937" y="4382878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7" y="0"/>
                </a:lnTo>
                <a:lnTo>
                  <a:pt x="1714127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sp>
        <p:nvSpPr>
          <p:cNvPr id="36" name="Freeform 36">
            <a:extLst>
              <a:ext uri="{FF2B5EF4-FFF2-40B4-BE49-F238E27FC236}">
                <a16:creationId xmlns:a16="http://schemas.microsoft.com/office/drawing/2014/main" id="{8672D197-9BF9-8CFA-6DF7-2937B68FFD86}"/>
              </a:ext>
            </a:extLst>
          </p:cNvPr>
          <p:cNvSpPr/>
          <p:nvPr/>
        </p:nvSpPr>
        <p:spPr>
          <a:xfrm>
            <a:off x="8726258" y="4572000"/>
            <a:ext cx="857064" cy="159628"/>
          </a:xfrm>
          <a:custGeom>
            <a:avLst/>
            <a:gdLst/>
            <a:ahLst/>
            <a:cxnLst/>
            <a:rect l="l" t="t" r="r" b="b"/>
            <a:pathLst>
              <a:path w="1714127" h="319256">
                <a:moveTo>
                  <a:pt x="0" y="0"/>
                </a:moveTo>
                <a:lnTo>
                  <a:pt x="1714128" y="0"/>
                </a:lnTo>
                <a:lnTo>
                  <a:pt x="1714128" y="319256"/>
                </a:lnTo>
                <a:lnTo>
                  <a:pt x="0" y="3192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sz="70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1E9CDC51-FF0E-F171-6762-BB19A05B4D8E}"/>
              </a:ext>
            </a:extLst>
          </p:cNvPr>
          <p:cNvGrpSpPr/>
          <p:nvPr/>
        </p:nvGrpSpPr>
        <p:grpSpPr>
          <a:xfrm>
            <a:off x="-19007" y="2928677"/>
            <a:ext cx="4276134" cy="431080"/>
            <a:chOff x="0" y="2985846"/>
            <a:chExt cx="4276134" cy="431080"/>
          </a:xfrm>
        </p:grpSpPr>
        <p:grpSp>
          <p:nvGrpSpPr>
            <p:cNvPr id="28" name="Group 28">
              <a:extLst>
                <a:ext uri="{FF2B5EF4-FFF2-40B4-BE49-F238E27FC236}">
                  <a16:creationId xmlns:a16="http://schemas.microsoft.com/office/drawing/2014/main" id="{20253B4E-5254-3A4A-D2B3-FDC541381304}"/>
                </a:ext>
              </a:extLst>
            </p:cNvPr>
            <p:cNvGrpSpPr/>
            <p:nvPr/>
          </p:nvGrpSpPr>
          <p:grpSpPr>
            <a:xfrm>
              <a:off x="0" y="2985846"/>
              <a:ext cx="4224335" cy="431080"/>
              <a:chOff x="0" y="-38100"/>
              <a:chExt cx="4355842" cy="444500"/>
            </a:xfrm>
          </p:grpSpPr>
          <p:sp>
            <p:nvSpPr>
              <p:cNvPr id="29" name="Freeform 29">
                <a:extLst>
                  <a:ext uri="{FF2B5EF4-FFF2-40B4-BE49-F238E27FC236}">
                    <a16:creationId xmlns:a16="http://schemas.microsoft.com/office/drawing/2014/main" id="{98AC3028-4A73-A10C-B23F-D62CE7C18AED}"/>
                  </a:ext>
                </a:extLst>
              </p:cNvPr>
              <p:cNvSpPr/>
              <p:nvPr/>
            </p:nvSpPr>
            <p:spPr>
              <a:xfrm>
                <a:off x="0" y="0"/>
                <a:ext cx="4355842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4355842" h="406400">
                    <a:moveTo>
                      <a:pt x="4152642" y="0"/>
                    </a:moveTo>
                    <a:lnTo>
                      <a:pt x="0" y="0"/>
                    </a:lnTo>
                    <a:lnTo>
                      <a:pt x="0" y="406400"/>
                    </a:lnTo>
                    <a:lnTo>
                      <a:pt x="4152642" y="406400"/>
                    </a:lnTo>
                    <a:lnTo>
                      <a:pt x="4355842" y="203200"/>
                    </a:lnTo>
                    <a:lnTo>
                      <a:pt x="415264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42882">
                      <a:alpha val="100000"/>
                    </a:srgbClr>
                  </a:gs>
                  <a:gs pos="100000">
                    <a:srgbClr val="2A83D0">
                      <a:alpha val="100000"/>
                    </a:srgbClr>
                  </a:gs>
                </a:gsLst>
                <a:lin ang="0"/>
              </a:gradFill>
            </p:spPr>
            <p:txBody>
              <a:bodyPr/>
              <a:lstStyle/>
              <a:p>
                <a:endParaRPr lang="en-IN" sz="700"/>
              </a:p>
            </p:txBody>
          </p:sp>
          <p:sp>
            <p:nvSpPr>
              <p:cNvPr id="30" name="TextBox 30">
                <a:extLst>
                  <a:ext uri="{FF2B5EF4-FFF2-40B4-BE49-F238E27FC236}">
                    <a16:creationId xmlns:a16="http://schemas.microsoft.com/office/drawing/2014/main" id="{199C1F1F-4C5C-E8C0-1593-D5C9F6952716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4241542" cy="444500"/>
              </a:xfrm>
              <a:prstGeom prst="rect">
                <a:avLst/>
              </a:prstGeom>
            </p:spPr>
            <p:txBody>
              <a:bodyPr lIns="25400" tIns="25400" rIns="25400" bIns="25400" rtlCol="0" anchor="ctr"/>
              <a:lstStyle/>
              <a:p>
                <a:pPr algn="ctr">
                  <a:lnSpc>
                    <a:spcPts val="1330"/>
                  </a:lnSpc>
                </a:pPr>
                <a:endParaRPr sz="700"/>
              </a:p>
            </p:txBody>
          </p:sp>
        </p:grp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578161E-D839-4793-89CB-83A287A2849E}"/>
                </a:ext>
              </a:extLst>
            </p:cNvPr>
            <p:cNvSpPr txBox="1"/>
            <p:nvPr/>
          </p:nvSpPr>
          <p:spPr>
            <a:xfrm>
              <a:off x="466725" y="3100839"/>
              <a:ext cx="3809409" cy="2235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943"/>
                </a:lnSpc>
              </a:pPr>
              <a:r>
                <a:rPr lang="en-US" sz="1400" b="1" spc="583" dirty="0">
                  <a:solidFill>
                    <a:srgbClr val="FFFFFF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PRESENTATION 2026</a:t>
              </a:r>
            </a:p>
          </p:txBody>
        </p:sp>
      </p:grpSp>
      <p:sp>
        <p:nvSpPr>
          <p:cNvPr id="40" name="TextBox 40">
            <a:extLst>
              <a:ext uri="{FF2B5EF4-FFF2-40B4-BE49-F238E27FC236}">
                <a16:creationId xmlns:a16="http://schemas.microsoft.com/office/drawing/2014/main" id="{EEE29F0A-1253-B8CE-E742-41B8B6EB922D}"/>
              </a:ext>
            </a:extLst>
          </p:cNvPr>
          <p:cNvSpPr txBox="1"/>
          <p:nvPr/>
        </p:nvSpPr>
        <p:spPr>
          <a:xfrm>
            <a:off x="854979" y="3645023"/>
            <a:ext cx="1633432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Name</a:t>
            </a:r>
          </a:p>
        </p:txBody>
      </p:sp>
      <p:sp>
        <p:nvSpPr>
          <p:cNvPr id="42" name="TextBox 42">
            <a:extLst>
              <a:ext uri="{FF2B5EF4-FFF2-40B4-BE49-F238E27FC236}">
                <a16:creationId xmlns:a16="http://schemas.microsoft.com/office/drawing/2014/main" id="{2E9FAC26-1E84-D690-0FD4-B1A364AF40DE}"/>
              </a:ext>
            </a:extLst>
          </p:cNvPr>
          <p:cNvSpPr txBox="1"/>
          <p:nvPr/>
        </p:nvSpPr>
        <p:spPr>
          <a:xfrm>
            <a:off x="854979" y="3806607"/>
            <a:ext cx="1633432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 err="1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Dr.S.VIMALI</a:t>
            </a:r>
            <a:endParaRPr lang="en-US" sz="1200" b="1" dirty="0">
              <a:solidFill>
                <a:srgbClr val="0D358D"/>
              </a:solidFill>
              <a:latin typeface="Arial" panose="020B0604020202020204" pitchFamily="34" charset="0"/>
              <a:ea typeface="Aileron Bold"/>
              <a:cs typeface="Arial" panose="020B0604020202020204" pitchFamily="34" charset="0"/>
              <a:sym typeface="Aileron Bold"/>
            </a:endParaRPr>
          </a:p>
        </p:txBody>
      </p:sp>
      <p:pic>
        <p:nvPicPr>
          <p:cNvPr id="50" name="Picture 49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C926F708-70B7-B0DB-A148-0FA2830D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757" t="2453" r="27842" b="53701"/>
          <a:stretch>
            <a:fillRect/>
          </a:stretch>
        </p:blipFill>
        <p:spPr>
          <a:xfrm>
            <a:off x="429808" y="3639905"/>
            <a:ext cx="395331" cy="381795"/>
          </a:xfrm>
          <a:prstGeom prst="rect">
            <a:avLst/>
          </a:prstGeom>
        </p:spPr>
      </p:pic>
      <p:sp>
        <p:nvSpPr>
          <p:cNvPr id="41" name="TextBox 41">
            <a:extLst>
              <a:ext uri="{FF2B5EF4-FFF2-40B4-BE49-F238E27FC236}">
                <a16:creationId xmlns:a16="http://schemas.microsoft.com/office/drawing/2014/main" id="{3403BDBE-05E2-50C5-0F55-4F0483352E2C}"/>
              </a:ext>
            </a:extLst>
          </p:cNvPr>
          <p:cNvSpPr txBox="1"/>
          <p:nvPr/>
        </p:nvSpPr>
        <p:spPr>
          <a:xfrm>
            <a:off x="3176086" y="3642226"/>
            <a:ext cx="1809978" cy="154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96"/>
              </a:lnSpc>
            </a:pPr>
            <a:r>
              <a:rPr lang="en-US" sz="1000" dirty="0">
                <a:latin typeface="Arial" panose="020B0604020202020204" pitchFamily="34" charset="0"/>
                <a:ea typeface="Aileron"/>
                <a:cs typeface="Arial" panose="020B0604020202020204" pitchFamily="34" charset="0"/>
                <a:sym typeface="Aileron"/>
              </a:rPr>
              <a:t>Faculty Email</a:t>
            </a:r>
          </a:p>
        </p:txBody>
      </p:sp>
      <p:sp>
        <p:nvSpPr>
          <p:cNvPr id="43" name="TextBox 43">
            <a:extLst>
              <a:ext uri="{FF2B5EF4-FFF2-40B4-BE49-F238E27FC236}">
                <a16:creationId xmlns:a16="http://schemas.microsoft.com/office/drawing/2014/main" id="{B84F91E2-C42E-10B3-A03A-88AA58AF1258}"/>
              </a:ext>
            </a:extLst>
          </p:cNvPr>
          <p:cNvSpPr txBox="1"/>
          <p:nvPr/>
        </p:nvSpPr>
        <p:spPr>
          <a:xfrm>
            <a:off x="3176086" y="3803810"/>
            <a:ext cx="2272871" cy="227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200" b="1" dirty="0">
                <a:solidFill>
                  <a:srgbClr val="0D358D"/>
                </a:solidFill>
                <a:latin typeface="Arial" panose="020B0604020202020204" pitchFamily="34" charset="0"/>
                <a:ea typeface="Aileron Bold"/>
                <a:cs typeface="Arial" panose="020B0604020202020204" pitchFamily="34" charset="0"/>
                <a:sym typeface="Aileron Bold"/>
              </a:rPr>
              <a:t>drvimalis@veltech.edu.in</a:t>
            </a:r>
          </a:p>
        </p:txBody>
      </p:sp>
      <p:pic>
        <p:nvPicPr>
          <p:cNvPr id="51" name="Picture 50" descr="A blue circle with a person and a envelope in it&#10;&#10;AI-generated content may be incorrect.">
            <a:extLst>
              <a:ext uri="{FF2B5EF4-FFF2-40B4-BE49-F238E27FC236}">
                <a16:creationId xmlns:a16="http://schemas.microsoft.com/office/drawing/2014/main" id="{EC8FEF14-C75E-1155-0600-B4343B3F57F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59" t="52379" r="26874" b="2349"/>
          <a:stretch>
            <a:fillRect/>
          </a:stretch>
        </p:blipFill>
        <p:spPr>
          <a:xfrm>
            <a:off x="2747249" y="3631981"/>
            <a:ext cx="398279" cy="38971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58A7A12-122B-4A3C-11D3-C4D8BF732077}"/>
              </a:ext>
            </a:extLst>
          </p:cNvPr>
          <p:cNvGrpSpPr/>
          <p:nvPr/>
        </p:nvGrpSpPr>
        <p:grpSpPr>
          <a:xfrm>
            <a:off x="860459" y="4337076"/>
            <a:ext cx="2272871" cy="389019"/>
            <a:chOff x="3139699" y="4295282"/>
            <a:chExt cx="2272871" cy="389019"/>
          </a:xfrm>
        </p:grpSpPr>
        <p:sp>
          <p:nvSpPr>
            <p:cNvPr id="67" name="TextBox 41">
              <a:extLst>
                <a:ext uri="{FF2B5EF4-FFF2-40B4-BE49-F238E27FC236}">
                  <a16:creationId xmlns:a16="http://schemas.microsoft.com/office/drawing/2014/main" id="{5FE6F280-D970-382B-5260-25E219F86722}"/>
                </a:ext>
              </a:extLst>
            </p:cNvPr>
            <p:cNvSpPr txBox="1"/>
            <p:nvPr/>
          </p:nvSpPr>
          <p:spPr>
            <a:xfrm>
              <a:off x="3139699" y="4295282"/>
              <a:ext cx="1809978" cy="1588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296"/>
                </a:lnSpc>
              </a:pPr>
              <a:r>
                <a:rPr lang="en-US" sz="1000" dirty="0">
                  <a:latin typeface="Arial" panose="020B0604020202020204" pitchFamily="34" charset="0"/>
                  <a:ea typeface="Aileron"/>
                  <a:cs typeface="Arial" panose="020B0604020202020204" pitchFamily="34" charset="0"/>
                  <a:sym typeface="Aileron"/>
                </a:rPr>
                <a:t>Mentor Name</a:t>
              </a:r>
            </a:p>
          </p:txBody>
        </p:sp>
        <p:sp>
          <p:nvSpPr>
            <p:cNvPr id="68" name="TextBox 43">
              <a:extLst>
                <a:ext uri="{FF2B5EF4-FFF2-40B4-BE49-F238E27FC236}">
                  <a16:creationId xmlns:a16="http://schemas.microsoft.com/office/drawing/2014/main" id="{A541DFB6-306C-CD3E-24BD-6D7131F87B73}"/>
                </a:ext>
              </a:extLst>
            </p:cNvPr>
            <p:cNvSpPr txBox="1"/>
            <p:nvPr/>
          </p:nvSpPr>
          <p:spPr>
            <a:xfrm>
              <a:off x="3139699" y="4456866"/>
              <a:ext cx="2272871" cy="2274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2038"/>
                </a:lnSpc>
              </a:pPr>
              <a:r>
                <a:rPr lang="en-US" sz="1200" b="1" dirty="0">
                  <a:solidFill>
                    <a:srgbClr val="0D358D"/>
                  </a:solidFill>
                  <a:latin typeface="Arial" panose="020B0604020202020204" pitchFamily="34" charset="0"/>
                  <a:ea typeface="Aileron Bold"/>
                  <a:cs typeface="Arial" panose="020B0604020202020204" pitchFamily="34" charset="0"/>
                  <a:sym typeface="Aileron Bold"/>
                </a:rPr>
                <a:t>UMAMAHESWARI R</a:t>
              </a: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4094A52A-31D4-B030-C8BD-9B0ACB0083E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8109" t="6546" r="28551" b="49509"/>
          <a:stretch>
            <a:fillRect/>
          </a:stretch>
        </p:blipFill>
        <p:spPr>
          <a:xfrm>
            <a:off x="447718" y="4346948"/>
            <a:ext cx="375815" cy="381063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18150B14-0B49-9E22-C961-786A40F27A84}"/>
              </a:ext>
            </a:extLst>
          </p:cNvPr>
          <p:cNvGrpSpPr/>
          <p:nvPr/>
        </p:nvGrpSpPr>
        <p:grpSpPr>
          <a:xfrm>
            <a:off x="640733" y="769747"/>
            <a:ext cx="3051630" cy="258616"/>
            <a:chOff x="1068621" y="826472"/>
            <a:chExt cx="2166264" cy="183584"/>
          </a:xfrm>
        </p:grpSpPr>
        <p:pic>
          <p:nvPicPr>
            <p:cNvPr id="55" name="Picture 54" descr="A blue and black logo&#10;&#10;AI-generated content may be incorrect.">
              <a:extLst>
                <a:ext uri="{FF2B5EF4-FFF2-40B4-BE49-F238E27FC236}">
                  <a16:creationId xmlns:a16="http://schemas.microsoft.com/office/drawing/2014/main" id="{9016EA03-A173-06E1-C2CA-FF7DC65A3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68621" y="826472"/>
              <a:ext cx="632879" cy="158848"/>
            </a:xfrm>
            <a:prstGeom prst="rect">
              <a:avLst/>
            </a:prstGeom>
          </p:spPr>
        </p:pic>
        <p:pic>
          <p:nvPicPr>
            <p:cNvPr id="57" name="Picture 56" descr="A close up of a logo&#10;&#10;AI-generated content may be incorrect.">
              <a:extLst>
                <a:ext uri="{FF2B5EF4-FFF2-40B4-BE49-F238E27FC236}">
                  <a16:creationId xmlns:a16="http://schemas.microsoft.com/office/drawing/2014/main" id="{B084208C-F6C2-47AC-3616-A62F69B531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670437" y="826472"/>
              <a:ext cx="564448" cy="183584"/>
            </a:xfrm>
            <a:prstGeom prst="rect">
              <a:avLst/>
            </a:prstGeom>
          </p:spPr>
        </p:pic>
      </p:grpSp>
      <p:sp>
        <p:nvSpPr>
          <p:cNvPr id="31" name="Shape 7">
            <a:extLst>
              <a:ext uri="{FF2B5EF4-FFF2-40B4-BE49-F238E27FC236}">
                <a16:creationId xmlns:a16="http://schemas.microsoft.com/office/drawing/2014/main" id="{4DEADC42-07CF-F7CC-6F54-42498EAA37B3}"/>
              </a:ext>
            </a:extLst>
          </p:cNvPr>
          <p:cNvSpPr/>
          <p:nvPr/>
        </p:nvSpPr>
        <p:spPr>
          <a:xfrm rot="18195971">
            <a:off x="5802826" y="2309413"/>
            <a:ext cx="283464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51B3A474-02DA-6A59-3FFF-434FDDC06A2B}"/>
              </a:ext>
            </a:extLst>
          </p:cNvPr>
          <p:cNvSpPr/>
          <p:nvPr/>
        </p:nvSpPr>
        <p:spPr>
          <a:xfrm rot="18195971">
            <a:off x="6146363" y="2413708"/>
            <a:ext cx="246888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3" name="Shape 9">
            <a:extLst>
              <a:ext uri="{FF2B5EF4-FFF2-40B4-BE49-F238E27FC236}">
                <a16:creationId xmlns:a16="http://schemas.microsoft.com/office/drawing/2014/main" id="{075C146A-525E-EAB1-2438-92AF6E344C2C}"/>
              </a:ext>
            </a:extLst>
          </p:cNvPr>
          <p:cNvSpPr/>
          <p:nvPr/>
        </p:nvSpPr>
        <p:spPr>
          <a:xfrm rot="18195971">
            <a:off x="6482126" y="2528680"/>
            <a:ext cx="2103120" cy="109728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9" name="Shape 9">
            <a:extLst>
              <a:ext uri="{FF2B5EF4-FFF2-40B4-BE49-F238E27FC236}">
                <a16:creationId xmlns:a16="http://schemas.microsoft.com/office/drawing/2014/main" id="{ED47441A-C600-ACAC-5391-EF118874C98C}"/>
              </a:ext>
            </a:extLst>
          </p:cNvPr>
          <p:cNvSpPr/>
          <p:nvPr/>
        </p:nvSpPr>
        <p:spPr>
          <a:xfrm rot="18195971">
            <a:off x="6735713" y="2647223"/>
            <a:ext cx="1872046" cy="116269"/>
          </a:xfrm>
          <a:prstGeom prst="rect">
            <a:avLst/>
          </a:prstGeom>
          <a:solidFill>
            <a:srgbClr val="4FC3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21A2EF52-784B-5BFA-EB88-FB9E7588BFF8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b="19729"/>
          <a:stretch>
            <a:fillRect/>
          </a:stretch>
        </p:blipFill>
        <p:spPr>
          <a:xfrm>
            <a:off x="173754" y="1046557"/>
            <a:ext cx="3854253" cy="184953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1223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10217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Outline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865657-EE51-429D-40B6-B64C80E4AB47}"/>
              </a:ext>
            </a:extLst>
          </p:cNvPr>
          <p:cNvSpPr txBox="1"/>
          <p:nvPr/>
        </p:nvSpPr>
        <p:spPr>
          <a:xfrm>
            <a:off x="125239" y="1080603"/>
            <a:ext cx="4446761" cy="3026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solidFill>
                  <a:schemeClr val="tx1"/>
                </a:solidFill>
                <a:effectLst/>
                <a:latin typeface="Lato" panose="020F0502020204030203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Abstract of the Project</a:t>
            </a:r>
            <a:endParaRPr lang="en-IN" sz="1800" dirty="0">
              <a:solidFill>
                <a:schemeClr val="tx1"/>
              </a:solidFill>
              <a:latin typeface="Lato" panose="020F0502020204030203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Problem Statement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Proposed Solution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System Architecture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Live Demo of the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Embedded Video of Project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Conclusion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Future Scope</a:t>
            </a:r>
          </a:p>
        </p:txBody>
      </p:sp>
      <p:pic>
        <p:nvPicPr>
          <p:cNvPr id="25" name="Picture 2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C3A7F110-9D19-8523-45D3-77B1951C883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250" t="7320" r="18976" b="28715"/>
          <a:stretch>
            <a:fillRect/>
          </a:stretch>
        </p:blipFill>
        <p:spPr>
          <a:xfrm>
            <a:off x="5378824" y="1034325"/>
            <a:ext cx="2868706" cy="32900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0079" y="6075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Abstract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49028-F25C-7DA0-DE56-0DC142EECABD}"/>
              </a:ext>
            </a:extLst>
          </p:cNvPr>
          <p:cNvSpPr txBox="1"/>
          <p:nvPr/>
        </p:nvSpPr>
        <p:spPr>
          <a:xfrm>
            <a:off x="125240" y="1082801"/>
            <a:ext cx="5002346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The AI-Powered Teaching Quality Monitor is designed to address persistent challenges in faculty evaluation by transforming traditional feedback systems into an inclusive, reliable, and actionable framework. </a:t>
            </a:r>
            <a:r>
              <a:rPr lang="en-US" sz="1800" dirty="0">
                <a:latin typeface="Lato" panose="020F0502020204030203" pitchFamily="34" charset="0"/>
                <a:ea typeface="+mn-lt"/>
                <a:cs typeface="Arial" panose="020B0604020202020204" pitchFamily="34" charset="0"/>
              </a:rPr>
              <a:t>Describe the objective and purpose of the project.</a:t>
            </a:r>
          </a:p>
          <a:p>
            <a:pPr marL="285750" indent="-28575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Microsoft Excel, Microsoft Power BI, Microsoft Copilot (AI), AI Chatbots (e.g., ChatGPT, Gemini) these tools used to prepare report. </a:t>
            </a:r>
            <a:endParaRPr lang="en-US" dirty="0"/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This project focuses on cleaning and visualizing data using Microsoft Excel and Power BI with Copilot assistance.</a:t>
            </a:r>
            <a:endParaRPr lang="en-US" sz="1800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2" name="Freeform 28">
            <a:extLst>
              <a:ext uri="{FF2B5EF4-FFF2-40B4-BE49-F238E27FC236}">
                <a16:creationId xmlns:a16="http://schemas.microsoft.com/office/drawing/2014/main" id="{AA7F05EE-340D-A58A-BAD0-FB0660B2D339}"/>
              </a:ext>
            </a:extLst>
          </p:cNvPr>
          <p:cNvSpPr/>
          <p:nvPr/>
        </p:nvSpPr>
        <p:spPr>
          <a:xfrm>
            <a:off x="5814470" y="1082801"/>
            <a:ext cx="3070450" cy="2997875"/>
          </a:xfrm>
          <a:custGeom>
            <a:avLst/>
            <a:gdLst/>
            <a:ahLst/>
            <a:cxnLst/>
            <a:rect l="l" t="t" r="r" b="b"/>
            <a:pathLst>
              <a:path w="4114800" h="4017541">
                <a:moveTo>
                  <a:pt x="0" y="0"/>
                </a:moveTo>
                <a:lnTo>
                  <a:pt x="4114800" y="0"/>
                </a:lnTo>
                <a:lnTo>
                  <a:pt x="4114800" y="4017541"/>
                </a:lnTo>
                <a:lnTo>
                  <a:pt x="0" y="40175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B2E24-A610-1C01-FCDD-9B6B67A72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8151" y="873760"/>
            <a:ext cx="3947240" cy="394724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0623" y="611286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Problem Statement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6AC24-5CB7-D860-6A01-E6D8ABD38610}"/>
              </a:ext>
            </a:extLst>
          </p:cNvPr>
          <p:cNvSpPr txBox="1"/>
          <p:nvPr/>
        </p:nvSpPr>
        <p:spPr>
          <a:xfrm>
            <a:off x="125240" y="1082801"/>
            <a:ext cx="4983208" cy="3549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Faculty performance is only analysed for a single semester, with no mechanism to track improvement or decline across multiple semesters or academic years.</a:t>
            </a: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The system cannot process multilingual inputs.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Feedback is only reviewed after the course ends, missing the chance to make timely interventions during the semester.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spam entries, and the system lacks tools to detect or filter such distortions.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  <a:p>
            <a:pPr marL="228600" indent="-228600"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229100" algn="ctr"/>
              </a:tabLst>
            </a:pPr>
            <a:r>
              <a:rPr lang="en-IN" dirty="0"/>
              <a:t>Current outputs remain general and descriptive.</a:t>
            </a:r>
            <a:endParaRPr lang="en-US" dirty="0">
              <a:latin typeface="Lato" panose="020F0502020204030203" pitchFamily="34" charset="0"/>
              <a:ea typeface="+mn-lt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1F49F94-4102-44CC-056B-FA1BB4DA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40286" y="725532"/>
            <a:ext cx="4903714" cy="4203183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125486" y="61693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Proposed Solution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846320" y="128016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000" dirty="0"/>
          </a:p>
        </p:txBody>
      </p:sp>
      <p:sp>
        <p:nvSpPr>
          <p:cNvPr id="5" name="Text 12"/>
          <p:cNvSpPr/>
          <p:nvPr/>
        </p:nvSpPr>
        <p:spPr>
          <a:xfrm>
            <a:off x="101102" y="1046012"/>
            <a:ext cx="5214610" cy="36966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The data cleaning process Improved data set reliability by using removing duplicates,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Power BI dashboards provides clear visualization of teacher performance.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Microsoft </a:t>
            </a:r>
            <a:r>
              <a:rPr lang="en-US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Excel,Microsoft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power </a:t>
            </a:r>
            <a:r>
              <a:rPr lang="en-US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BI,Microsoft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Copilot(AI),AI Chatbots(</a:t>
            </a:r>
            <a:r>
              <a:rPr lang="en-US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e.g.ChatGPT,Gemini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)  widely used  for data cleaning, Helps to automate </a:t>
            </a:r>
            <a:r>
              <a:rPr lang="en-US" dirty="0" err="1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tasks,generate</a:t>
            </a:r>
            <a:r>
              <a:rPr lang="en-US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 summaries and assist with analysis using natural language prompts.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Key findings included the identification of high‑performing teachers, courses needing improvement, and recurring themes in student feedback.</a:t>
            </a:r>
          </a:p>
          <a:p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0" y="60292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System Architecture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3540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16732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684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Data Input / Source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684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[Teaching quality datasheet used to analyze the</a:t>
            </a:r>
            <a:r>
              <a:rPr lang="en-US" sz="1600" dirty="0"/>
              <a:t> quality and variety of input data directly impact the accuracy of the final output</a:t>
            </a:r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70248" y="1243200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 sz="160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602168" y="1243200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761688" y="127977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Processing / Analysis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761688" y="1700400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[Student classroom behavior t</a:t>
            </a:r>
            <a:r>
              <a:rPr lang="en-US" sz="1600" dirty="0"/>
              <a:t>his step converts raw data into useful insights.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540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16732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2684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 / Tool Integration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684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[AI –based classroom monitoring dataset used to</a:t>
            </a:r>
            <a:r>
              <a:rPr lang="en-US" sz="1600" dirty="0"/>
              <a:t> crate the system smarter and more efficient.</a:t>
            </a:r>
          </a:p>
          <a:p>
            <a:pPr marL="0" indent="0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670248" y="2969856"/>
            <a:ext cx="4114800" cy="3840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02168" y="2969856"/>
            <a:ext cx="320040" cy="384048"/>
          </a:xfrm>
          <a:prstGeom prst="rect">
            <a:avLst/>
          </a:prstGeom>
          <a:solidFill>
            <a:srgbClr val="1B3A8A"/>
          </a:solidFill>
          <a:ln/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761688" y="3006432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Output / Dashboard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761688" y="3427056"/>
            <a:ext cx="4023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600" dirty="0">
                <a:solidFill>
                  <a:srgbClr val="1A1A2E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[Comparison table used to find the</a:t>
            </a:r>
            <a:r>
              <a:rPr lang="en-US" sz="1600" dirty="0"/>
              <a:t> goal is clear, visual, and actionable insights.</a:t>
            </a:r>
            <a:r>
              <a:rPr lang="en-US" sz="1600" dirty="0">
                <a:latin typeface="Lato" panose="020F0502020204030203" pitchFamily="34" charset="0"/>
                <a:cs typeface="Arial" panose="020B0604020202020204" pitchFamily="34" charset="0"/>
              </a:rPr>
              <a:t>]</a:t>
            </a:r>
            <a:endParaRPr lang="en-US" sz="1600" dirty="0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0623" y="60729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Live Demo of Project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5487" y="1105839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Here's the list of some demo screenshots / features of the project:</a:t>
            </a: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978408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2196877"/>
            <a:ext cx="27889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74320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ASSESSMENT </a:t>
            </a:r>
            <a:r>
              <a:rPr lang="en-IN" dirty="0"/>
              <a:t>PERFORMANCE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11480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[Teaching method compared with student grade]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22776" y="1648237"/>
            <a:ext cx="1371600" cy="1371600"/>
          </a:xfrm>
          <a:prstGeom prst="ellipse">
            <a:avLst/>
          </a:prstGeom>
          <a:solidFill>
            <a:srgbClr val="FFC00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18688" y="2196877"/>
            <a:ext cx="2788920" cy="2651760"/>
          </a:xfrm>
          <a:prstGeom prst="rect">
            <a:avLst/>
          </a:prstGeom>
          <a:solidFill>
            <a:srgbClr val="FDF3ED"/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218688" y="2413802"/>
            <a:ext cx="2788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IN" dirty="0"/>
              <a:t>KNOWLEDGE RETENTION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355848" y="2825283"/>
            <a:ext cx="2514600" cy="1810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</a:t>
            </a:r>
            <a:r>
              <a:rPr lang="en-IN" dirty="0"/>
              <a:t>Subjects that involve logical structuring and practical application (Digital Systems, Control Engineering) show better retention and higher scores]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867144" y="1648237"/>
            <a:ext cx="1371600" cy="1371600"/>
          </a:xfrm>
          <a:prstGeom prst="ellipse">
            <a:avLst/>
          </a:prstGeom>
          <a:solidFill>
            <a:srgbClr val="1565C0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867144" y="1648237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600" dirty="0">
              <a:latin typeface="Lato" panose="020F0502020204030203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2087938"/>
            <a:ext cx="2674620" cy="2651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IN">
              <a:latin typeface="Lato" panose="020F0502020204030203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00216" y="2413802"/>
            <a:ext cx="2514600" cy="3434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IN" dirty="0"/>
          </a:p>
          <a:p>
            <a:pPr algn="ctr"/>
            <a:r>
              <a:rPr lang="en-IN" dirty="0"/>
              <a:t>OUTCOME ALIGNEMENT</a:t>
            </a:r>
          </a:p>
          <a:p>
            <a:pPr marL="0" indent="0" algn="ctr">
              <a:buNone/>
            </a:pP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00216" y="2919838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[Analyse the gap in the Course objective]</a:t>
            </a:r>
            <a:endParaRPr lang="en-US" sz="16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320040" y="6217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of Project Demo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29065" y="685800"/>
            <a:ext cx="8412480" cy="3977640"/>
          </a:xfrm>
          <a:prstGeom prst="rect">
            <a:avLst/>
          </a:prstGeom>
          <a:solidFill>
            <a:srgbClr val="ECEFF1"/>
          </a:solidFill>
          <a:ln w="25400">
            <a:solidFill>
              <a:srgbClr val="1B3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287195" y="685800"/>
            <a:ext cx="7262446" cy="438912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IN" dirty="0"/>
          </a:p>
        </p:txBody>
      </p:sp>
      <p:sp>
        <p:nvSpPr>
          <p:cNvPr id="8" name="Shape 6"/>
          <p:cNvSpPr/>
          <p:nvPr/>
        </p:nvSpPr>
        <p:spPr>
          <a:xfrm>
            <a:off x="502920" y="777240"/>
            <a:ext cx="164592" cy="164592"/>
          </a:xfrm>
          <a:prstGeom prst="ellipse">
            <a:avLst/>
          </a:prstGeom>
          <a:solidFill>
            <a:srgbClr val="FF5F5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31520" y="777240"/>
            <a:ext cx="164592" cy="164592"/>
          </a:xfrm>
          <a:prstGeom prst="ellipse">
            <a:avLst/>
          </a:prstGeom>
          <a:solidFill>
            <a:srgbClr val="FEBC2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960120" y="777240"/>
            <a:ext cx="164592" cy="164592"/>
          </a:xfrm>
          <a:prstGeom prst="ellipse">
            <a:avLst/>
          </a:prstGeom>
          <a:solidFill>
            <a:srgbClr val="28C84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389888" y="768096"/>
            <a:ext cx="499262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/>
              <a:t>https://drive.google.com/file/d/1cfdZqudcEADaf8kKxvClrp793PjKncKD/view?usp=drive_link</a:t>
            </a:r>
          </a:p>
        </p:txBody>
      </p:sp>
      <p:sp>
        <p:nvSpPr>
          <p:cNvPr id="13" name="Shape 11"/>
          <p:cNvSpPr/>
          <p:nvPr/>
        </p:nvSpPr>
        <p:spPr>
          <a:xfrm>
            <a:off x="3749040" y="1828800"/>
            <a:ext cx="1645920" cy="1645920"/>
          </a:xfrm>
          <a:prstGeom prst="ellipse">
            <a:avLst/>
          </a:prstGeom>
          <a:solidFill>
            <a:srgbClr val="1B3A8A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49040" y="1828800"/>
            <a:ext cx="1645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FFFFFF"/>
                </a:solidFill>
              </a:rPr>
              <a:t>▶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4400" y="3794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100" dirty="0"/>
          </a:p>
          <a:p>
            <a:pPr algn="ctr"/>
            <a:r>
              <a:rPr lang="en-US" sz="1100" dirty="0"/>
              <a:t>https://drive.google.com/file/d/1cfdZqudcEADaf8kKxvClrp793PjKncKD/view?usp=drive_link</a:t>
            </a:r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30351" y="612064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Conclusion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5486" y="1084926"/>
            <a:ext cx="5072526" cy="37543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set out to address the challenge of monitoring teaching quality using accessible, AI‑powered tools rather than complex machine learning models. By leveraging </a:t>
            </a:r>
            <a:r>
              <a:rPr lang="en-IN" b="1" dirty="0"/>
              <a:t>Microsoft Excel, Power BI, Copilot, and AI Chatbots. </a:t>
            </a:r>
            <a:r>
              <a:rPr lang="en-IN" dirty="0"/>
              <a:t>This project achieved,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 ingestion and cleaning</a:t>
            </a:r>
            <a:r>
              <a:rPr lang="en-IN" dirty="0"/>
              <a:t> using Excel.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Analysis and visualization</a:t>
            </a:r>
            <a:r>
              <a:rPr lang="en-IN" dirty="0"/>
              <a:t> through Power BI dashboards.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AI integration</a:t>
            </a:r>
            <a:r>
              <a:rPr lang="en-IN" dirty="0"/>
              <a:t> with Copilot and Chatbots for automated insights.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Prototype demonstration</a:t>
            </a:r>
            <a:r>
              <a:rPr lang="en-IN" dirty="0"/>
              <a:t> suitable for fellowship evaluation.</a:t>
            </a:r>
          </a:p>
          <a:p>
            <a:endParaRPr lang="en-IN" dirty="0"/>
          </a:p>
          <a:p>
            <a:pPr marL="0" indent="0">
              <a:buNone/>
            </a:pPr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03520" y="347472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FFFFF"/>
                </a:solidFill>
                <a:latin typeface="Lato" panose="020F0502020204030203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>
              <a:latin typeface="Lato" panose="020F0502020204030203" pitchFamily="34" charset="0"/>
            </a:endParaRPr>
          </a:p>
        </p:txBody>
      </p:sp>
      <p:pic>
        <p:nvPicPr>
          <p:cNvPr id="20" name="Picture 19" descr="A blue circle with a pencil and paper with a star on it&#10;&#10;AI-generated content may be incorrect.">
            <a:extLst>
              <a:ext uri="{FF2B5EF4-FFF2-40B4-BE49-F238E27FC236}">
                <a16:creationId xmlns:a16="http://schemas.microsoft.com/office/drawing/2014/main" id="{BAE68F53-65EE-1751-E92D-7025D978B68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25397" t="26296" r="26825" b="29752"/>
          <a:stretch>
            <a:fillRect/>
          </a:stretch>
        </p:blipFill>
        <p:spPr>
          <a:xfrm>
            <a:off x="4898406" y="971550"/>
            <a:ext cx="3597456" cy="330935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23247" y="613561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3A8A"/>
                </a:solidFill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Future Scope</a:t>
            </a:r>
            <a:endParaRPr lang="en-US" sz="20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23246" y="1082104"/>
            <a:ext cx="4448753" cy="3745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en-IN" dirty="0"/>
          </a:p>
          <a:p>
            <a:r>
              <a:rPr lang="en-IN" dirty="0"/>
              <a:t>This would allow dashboards to update automatically as new student feedback is submitted.</a:t>
            </a:r>
          </a:p>
          <a:p>
            <a:endParaRPr lang="en-IN" dirty="0"/>
          </a:p>
          <a:p>
            <a:r>
              <a:rPr lang="en-IN" dirty="0"/>
              <a:t>This would allow dashboards to update automatically as new student feedback is submitted.</a:t>
            </a:r>
          </a:p>
          <a:p>
            <a:r>
              <a:rPr lang="en-IN" dirty="0"/>
              <a:t>Develop a </a:t>
            </a:r>
            <a:r>
              <a:rPr lang="en-IN" b="1" dirty="0"/>
              <a:t>user-friendly web interface</a:t>
            </a:r>
            <a:r>
              <a:rPr lang="en-IN" dirty="0"/>
              <a:t> or integrate with </a:t>
            </a:r>
            <a:r>
              <a:rPr lang="en-IN" b="1" dirty="0"/>
              <a:t>Power Apps</a:t>
            </a:r>
            <a:r>
              <a:rPr lang="en-IN" dirty="0"/>
              <a:t>.</a:t>
            </a:r>
          </a:p>
          <a:p>
            <a:r>
              <a:rPr lang="en-IN" dirty="0"/>
              <a:t>Future versions could connect with </a:t>
            </a:r>
            <a:r>
              <a:rPr lang="en-IN" b="1" dirty="0"/>
              <a:t>Learning Management Systems (LMS)</a:t>
            </a:r>
            <a:r>
              <a:rPr lang="en-IN" dirty="0"/>
              <a:t> or HR platforms for seamless data flow.</a:t>
            </a:r>
          </a:p>
          <a:p>
            <a:endParaRPr lang="en-IN" dirty="0"/>
          </a:p>
          <a:p>
            <a:endParaRPr lang="en-US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2449DB-BF51-DAAE-EA83-F4C008967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635" y="879613"/>
            <a:ext cx="4512365" cy="338427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914400" y="3017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Lato" panose="020F0502020204030203" pitchFamily="34" charset="0"/>
                <a:ea typeface="Calibri" pitchFamily="34" charset="-122"/>
                <a:cs typeface="Arial" panose="020B0604020202020204" pitchFamily="34" charset="0"/>
              </a:rPr>
              <a:t>AICW Fellowship  |  Student Project Presentation 2026</a:t>
            </a:r>
            <a:endParaRPr lang="en-US" sz="14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3566160"/>
            <a:ext cx="73152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 LinkedIn  |   </a:t>
            </a:r>
            <a:r>
              <a:rPr lang="en-US" sz="1100" dirty="0" err="1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Edunet</a:t>
            </a:r>
            <a:r>
              <a:rPr lang="en-US" sz="1100" dirty="0">
                <a:latin typeface="Lato" panose="020F0502020204030203" pitchFamily="34" charset="0"/>
                <a:ea typeface="Calibri"/>
                <a:cs typeface="Arial" panose="020B0604020202020204" pitchFamily="34" charset="0"/>
              </a:rPr>
              <a:t> Foundation</a:t>
            </a:r>
            <a:endParaRPr lang="en-US" sz="1100" dirty="0">
              <a:latin typeface="Lato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F7A740B1-0782-B37E-5F62-503024E32BC9}"/>
              </a:ext>
            </a:extLst>
          </p:cNvPr>
          <p:cNvSpPr txBox="1"/>
          <p:nvPr/>
        </p:nvSpPr>
        <p:spPr>
          <a:xfrm>
            <a:off x="2632982" y="1705295"/>
            <a:ext cx="3878036" cy="1175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686"/>
              </a:lnSpc>
            </a:pPr>
            <a:r>
              <a:rPr lang="en-US" sz="5000" b="1" dirty="0">
                <a:solidFill>
                  <a:srgbClr val="0D358D"/>
                </a:solidFill>
                <a:latin typeface="Lato" panose="020F0502020204030203" pitchFamily="34" charset="0"/>
                <a:ea typeface="Aileron Ultra-Bold"/>
                <a:cs typeface="Arial" panose="020B0604020202020204" pitchFamily="34" charset="0"/>
                <a:sym typeface="Aileron Ultra-Bold"/>
              </a:rPr>
              <a:t>Thank You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OFFICE THEME" val="ROGxgyxs"/>
  <p:tag name="ARTICULATE_PROJECT_OPEN" val="0"/>
  <p:tag name="ARTICULATE_SLIDE_COUNT" val="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377</TotalTime>
  <Words>659</Words>
  <Application>Microsoft Office PowerPoint</Application>
  <PresentationFormat>On-screen Show (16:9)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AICW Student Project Presentation Template 2026</dc:title>
  <dc:subject>PptxGenJS Presentation</dc:subject>
  <dc:creator>PptxGenJS</dc:creator>
  <cp:lastModifiedBy>vimaliajay@outlook.com</cp:lastModifiedBy>
  <cp:revision>30</cp:revision>
  <dcterms:created xsi:type="dcterms:W3CDTF">2026-02-18T09:17:23Z</dcterms:created>
  <dcterms:modified xsi:type="dcterms:W3CDTF">2026-04-11T06:58:17Z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1F7F540C-1CAD-4091-84DE-558331FD12BA</vt:lpwstr>
  </property>
  <property fmtid="{D5CDD505-2E9C-101B-9397-08002B2CF9AE}" pid="3" name="ArticulatePath">
    <vt:lpwstr>https://edunetfoundationorg-my.sharepoint.com/personal/kaisar_edunetfoundation_org/Documents/Task/AICW/Student project/AI Fellowship Project Template2026 (1)</vt:lpwstr>
  </property>
</Properties>
</file>